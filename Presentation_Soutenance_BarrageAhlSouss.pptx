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titre. Présenter brièvement le sujet et les intervenants.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plan en 6 parties principales.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barrage Ahl Souss et poser la problématique centrale du PFE.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4 objectifs principaux du PFE en lien avec la problématique.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chaîne de travail complète du PFE.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trois débits laminés et la synthèse des résultats théoriques.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chaîne des 5 étapes de calcul Excel : seuil Creager → profil WES → courbe de remous (seuil+coursier+cuillère) → trajectoire du jet → affouillement. Insister que la courbe de remous couvre toute la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tableau des résultats pour les 3 débits. Mettre en valeur Q1000 comme scénario dimensionnant. Conclure sur la sécurité des fondations.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le setup OpenFOAM : solveur, maillage, conditions aux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champs de vitesse pour les 3 débits et commenter l'accélération de l'écoulement.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 champ de pression et le jet formé en sortie de cuillère pour Q1000.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résultats de l'affouillement avec les 4 formules et conclure sur la sécurité des fondations.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écarts et expliquer pourquoi ils sont acceptables pour une comparaison 1D vs 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les apports du PFE et ouvrir sur les perspectives.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clôture — inviter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82112"/>
            <a:ext cx="91440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CC"/>
                </a:solidFill>
              </a:rPr>
              <a:t>École Nationale des Sciences Appliquées — Agadir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Modélisation numérique 3D de l'évacuateur de crues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du barrage Ahl Souss par OpenFOAM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CC"/>
                </a:solidFill>
              </a:rPr>
              <a:t>Projet de Fin d'Études — Génie Civil &amp; Hydraulique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Présenté par :  Hiba Asmae BASTOUT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75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Encadrant :  [Nom de l'encadrant]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C8E0"/>
                </a:solidFill>
              </a:rPr>
              <a:t>Année universitaire 2025 –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3675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8E0"/>
                </a:solidFill>
              </a:rPr>
              <a:t>Session de Juin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Sommaire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132588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3716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Contexte du projet &amp; Présentation du barrage Ahl Souss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242316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24688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Objectifs et démarche méthodologique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20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1560" y="352044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3566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Dimensionnement hydraulique théorique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3258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40680" y="132588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13716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Modélisation numérique avec OpenFOAM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4231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40680" y="242316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32120" y="24688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Résultats des simulations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CC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40680" y="352044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32120" y="35661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B3A"/>
                </a:solidFill>
              </a:rPr>
              <a:t>Comparaison théorie / simulation &amp;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Présentation du projet — Barrage Ahl Souss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Localisation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325880"/>
            <a:ext cx="3474720" cy="384048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3350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Oued Souss, province de Taroudant, Maroc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8013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Hauteur du barrage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801368"/>
            <a:ext cx="3474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8105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56 m (type poids en BCR)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76856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2768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Volume de retenue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2276856"/>
            <a:ext cx="3474720" cy="384048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480 Mm³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752344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7523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Cote seuil Creager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2752344"/>
            <a:ext cx="3474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514600" y="27614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600,0 m NGM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27832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2278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Largeur déversante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3227832"/>
            <a:ext cx="3474720" cy="384048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2514600" y="32369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70 m (1 passe)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03320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703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Débit millénaire laminé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23160" y="3703320"/>
            <a:ext cx="3474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514600" y="37124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Q₁₀₀₀ = 794,93 m³/s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78808"/>
            <a:ext cx="2103120" cy="38404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178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Type d'évacuateur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23160" y="4178808"/>
            <a:ext cx="3474720" cy="384048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33" name="Text 31"/>
          <p:cNvSpPr/>
          <p:nvPr/>
        </p:nvSpPr>
        <p:spPr>
          <a:xfrm>
            <a:off x="2514600" y="41879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Déversoir Creager + coursier + cuillère saut de ski</a:t>
            </a:r>
            <a:endParaRPr lang="en-US" sz="1000" dirty="0"/>
          </a:p>
        </p:txBody>
      </p:sp>
      <p:pic>
        <p:nvPicPr>
          <p:cNvPr id="34" name="Image 0" descr="/workspace/figures/figure4_lo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280160"/>
            <a:ext cx="2560320" cy="25603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26364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A95"/>
                </a:solidFill>
              </a:rPr>
              <a:t>Localisation du barrage Ahl Souss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name="adj" fmla="val 14286"/>
            </a:avLst>
          </a:prstGeom>
          <a:solidFill>
            <a:srgbClr val="0D2B45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Problématique : Valider le dimensionnement hydraulique de l'évacuateur de crues par simulation CFD 3D avec OpenFOAM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OBJECTIFS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Objectifs du Projet de Fin d'Études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D2B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</a:rPr>
              <a:t>Dimensionnement théorique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Calculer le profil hydraulique (seuil, coursier, cuillère), la ligne d'eau (HEC-RAS), la trajectoire du jet et l'affouillement à l'aval pour Q₁₀, Q₁₀₀ et Q₁₀₀₀.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630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E5A8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1463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</a:rPr>
              <a:t>Modélisation 3D OpenFOAM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9842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Construire un modèle CFD complet (géométrie SketchUp → STL, maillage snappyHexMesh, solveur interFoam) pour les trois débits de crue.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65A7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200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</a:rPr>
              <a:t>Analyse des résultats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7216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Extraire et analyser les champs de vitesse, de pression et de fraction volumique (α) issus des simulations pour chaque débit.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42062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2004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A4A6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69280" y="3200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</a:rPr>
              <a:t>Comparaison &amp; Validation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7216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</a:rPr>
              <a:t>Confronter les résultats numériques aux valeurs théoriques (hauteurs d'eau, vitesses maximales) et quantifier les écarts.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MÉTHODOLOGIE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Démarche méthodologique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Hydrologie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87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Débits de crue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Q₁₀ / Q₁₀₀ / Q₁₀₀₀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01368" y="2377440"/>
            <a:ext cx="237744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E5A8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39112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Hydraulique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théorique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39112" y="2487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Seuil · Coursier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Cuillère · HEC-RAS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2377440"/>
            <a:ext cx="237744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58184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58184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58184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Géométrie 3D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58184" y="2487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SketchUp → STL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AutoCAD profil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39512" y="2377440"/>
            <a:ext cx="237744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77256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A7B9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77256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77256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Maillage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OpenFOAM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77256" y="2487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blockMesh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snappyHexMesh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58584" y="2377440"/>
            <a:ext cx="237744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96328" y="13716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00A8C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96328" y="137160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96328" y="187452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Simulation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CFD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96328" y="24871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interFoam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8EA"/>
                </a:solidFill>
              </a:rPr>
              <a:t>VOF diphasique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RÉSULTATS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069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4F3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004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Ligne d'eau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HEC-RAS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4069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4F3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46888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Champs U &amp; 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OpenFOAM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4069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4F3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1772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Trajectoire du jet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&amp; Affouillement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66560" y="406908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E4F3F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76656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Comparaison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B45"/>
                </a:solidFill>
              </a:rPr>
              <a:t>théorie / CFD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THÉORIE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Hydrogrammes de crue — Débits laminés retenus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6FA8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Q₁₀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CE0"/>
                </a:solidFill>
              </a:rPr>
              <a:t>Débit décennal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 = 160,74 m³/s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7249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CC"/>
                </a:solidFill>
              </a:rPr>
              <a:t>Hd = 1,13 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044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B0CA"/>
                </a:solidFill>
              </a:rPr>
              <a:t>(charge sur seuil Creager)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Q₁₀₀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6120" y="1993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CE0"/>
                </a:solidFill>
              </a:rPr>
              <a:t>Débit centennal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 = 507,54 m³/s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7249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CC"/>
                </a:solidFill>
              </a:rPr>
              <a:t>Hd = 2,32 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3044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B0CA"/>
                </a:solidFill>
              </a:rPr>
              <a:t>(charge sur seuil Creager)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13716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</a:rPr>
              <a:t>Q₁₀₀₀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72200" y="19933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CCE0"/>
                </a:solidFill>
              </a:rPr>
              <a:t>Débit millénaire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359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 = 794,93 m³/s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7249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CC"/>
                </a:solidFill>
              </a:rPr>
              <a:t>Hd = 3,07 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044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B0CA"/>
                </a:solidFill>
              </a:rPr>
              <a:t>(charge sur seuil Creager)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31920"/>
          <a:ext cx="8503920" cy="100584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463040"/>
                <a:gridCol w="1280160"/>
                <a:gridCol w="1645920"/>
                <a:gridCol w="128016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 (ans)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 (m³/s)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y_coursier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H_mur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V₀ cuillère (m/s)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Lx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160,74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17,89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36,72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507,54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16,81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35,36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1 000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794,93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17,91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38,07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THÉORIE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Chaîne de calcul hydraulique — Tableur Excel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98448"/>
            <a:ext cx="153619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① Seuil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1536192" cy="2852928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C8D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" y="19019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2B45"/>
                </a:solidFill>
              </a:rPr>
              <a:t>ENTRÉE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74904" y="2066544"/>
            <a:ext cx="1426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Q (m³/s)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L = 70 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Cote seuil = 600 m NGM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715768"/>
            <a:ext cx="1353312" cy="0"/>
          </a:xfrm>
          <a:prstGeom prst="line">
            <a:avLst/>
          </a:prstGeom>
          <a:noFill/>
          <a:ln w="6350">
            <a:solidFill>
              <a:srgbClr val="C8D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" y="27797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2B45"/>
                </a:solidFill>
              </a:rPr>
              <a:t>MÉTHODE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74904" y="294436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Q = C · L · Hd^1.5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4904" y="3630168"/>
            <a:ext cx="1426464" cy="749808"/>
          </a:xfrm>
          <a:prstGeom prst="roundRect">
            <a:avLst>
              <a:gd name="adj" fmla="val 6098"/>
            </a:avLst>
          </a:prstGeom>
          <a:solidFill>
            <a:srgbClr val="0D2B45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" y="3630168"/>
            <a:ext cx="1426464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Hd = 1,13 / 2,32 / 3,07 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pour Q₁₀ / Q₁₀₀ / Q₁₀₀₀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74520" y="2999232"/>
            <a:ext cx="164592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92808" y="2862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CC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57400" y="1298448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0E5A8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57400" y="1298448"/>
            <a:ext cx="153619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② Profil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57400" y="1847088"/>
            <a:ext cx="1536192" cy="2852928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C8D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12264" y="19019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5A8A"/>
                </a:solidFill>
              </a:rPr>
              <a:t>ENTRÉE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112264" y="2066544"/>
            <a:ext cx="1426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Hd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k = 0,5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n = 1,872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48840" y="2715768"/>
            <a:ext cx="1353312" cy="0"/>
          </a:xfrm>
          <a:prstGeom prst="line">
            <a:avLst/>
          </a:prstGeom>
          <a:noFill/>
          <a:ln w="6350">
            <a:solidFill>
              <a:srgbClr val="C8DD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12264" y="27797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5A8A"/>
                </a:solidFill>
              </a:rPr>
              <a:t>MÉTHODE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112264" y="294436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y^n = k · Hd^(n-1) · x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(coordonnées X-Z)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12264" y="3630168"/>
            <a:ext cx="1426464" cy="749808"/>
          </a:xfrm>
          <a:prstGeom prst="roundRect">
            <a:avLst>
              <a:gd name="adj" fmla="val 6098"/>
            </a:avLst>
          </a:prstGeom>
          <a:solidFill>
            <a:srgbClr val="0E5A8A"/>
          </a:solidFill>
          <a:ln/>
        </p:spPr>
      </p:sp>
      <p:sp>
        <p:nvSpPr>
          <p:cNvPr id="27" name="Text 25"/>
          <p:cNvSpPr/>
          <p:nvPr/>
        </p:nvSpPr>
        <p:spPr>
          <a:xfrm>
            <a:off x="2112264" y="3630168"/>
            <a:ext cx="1426464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Profil géométrique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du déversoir point par point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11880" y="2999232"/>
            <a:ext cx="164592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2862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CC"/>
                </a:solidFill>
              </a:rPr>
              <a:t>▶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94760" y="1298448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94760" y="1298448"/>
            <a:ext cx="153619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③ Courbe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 remous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94760" y="1847088"/>
            <a:ext cx="1536192" cy="2852928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C8D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49624" y="19019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5A7A"/>
                </a:solidFill>
              </a:rPr>
              <a:t>ENTRÉE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9624" y="2066544"/>
            <a:ext cx="1426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Profil, Ks = 70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pente 1,25 m/m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Seuil + Coursier + Cuillère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86200" y="2715768"/>
            <a:ext cx="1353312" cy="0"/>
          </a:xfrm>
          <a:prstGeom prst="line">
            <a:avLst/>
          </a:prstGeom>
          <a:noFill/>
          <a:ln w="6350">
            <a:solidFill>
              <a:srgbClr val="C8DD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9624" y="27797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5A7A"/>
                </a:solidFill>
              </a:rPr>
              <a:t>MÉTHODE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49624" y="294436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Méthode pas-à-pas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(Manning-Strickler)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49624" y="3630168"/>
            <a:ext cx="1426464" cy="749808"/>
          </a:xfrm>
          <a:prstGeom prst="roundRect">
            <a:avLst>
              <a:gd name="adj" fmla="val 6098"/>
            </a:avLst>
          </a:prstGeom>
          <a:solidFill>
            <a:srgbClr val="065A7A"/>
          </a:solidFill>
          <a:ln/>
        </p:spPr>
      </p:sp>
      <p:sp>
        <p:nvSpPr>
          <p:cNvPr id="39" name="Text 37"/>
          <p:cNvSpPr/>
          <p:nvPr/>
        </p:nvSpPr>
        <p:spPr>
          <a:xfrm>
            <a:off x="3849624" y="3630168"/>
            <a:ext cx="1426464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h(x) et V(x)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sur toute la structure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 mur = 2,83 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49240" y="2999232"/>
            <a:ext cx="164592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67528" y="2862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CC"/>
                </a:solidFill>
              </a:rPr>
              <a:t>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32120" y="1298448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0A7B9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532120" y="1298448"/>
            <a:ext cx="153619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④ Trajectoire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 jet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32120" y="1847088"/>
            <a:ext cx="1536192" cy="2852928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C8D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586984" y="19019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7B9C"/>
                </a:solidFill>
              </a:rPr>
              <a:t>ENTRÉE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586984" y="2066544"/>
            <a:ext cx="1426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V₀ ≈ 18 m/s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θ = 40°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R = 3,00 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23560" y="2715768"/>
            <a:ext cx="1353312" cy="0"/>
          </a:xfrm>
          <a:prstGeom prst="line">
            <a:avLst/>
          </a:prstGeom>
          <a:noFill/>
          <a:ln w="6350">
            <a:solidFill>
              <a:srgbClr val="C8DD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86984" y="27797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7B9C"/>
                </a:solidFill>
              </a:rPr>
              <a:t>MÉTHODE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86984" y="294436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Équation balistique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(Lx = f(V₀, θ, ΔZ))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86984" y="3630168"/>
            <a:ext cx="1426464" cy="749808"/>
          </a:xfrm>
          <a:prstGeom prst="roundRect">
            <a:avLst>
              <a:gd name="adj" fmla="val 6098"/>
            </a:avLst>
          </a:prstGeom>
          <a:solidFill>
            <a:srgbClr val="0A7B9C"/>
          </a:solidFill>
          <a:ln/>
        </p:spPr>
      </p:sp>
      <p:sp>
        <p:nvSpPr>
          <p:cNvPr id="51" name="Text 49"/>
          <p:cNvSpPr/>
          <p:nvPr/>
        </p:nvSpPr>
        <p:spPr>
          <a:xfrm>
            <a:off x="5586984" y="3630168"/>
            <a:ext cx="1426464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Lx = 36 à 38 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selon débit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86600" y="2999232"/>
            <a:ext cx="164592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4888" y="286207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8CC"/>
                </a:solidFill>
              </a:rPr>
              <a:t>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269480" y="1298448"/>
            <a:ext cx="1536192" cy="548640"/>
          </a:xfrm>
          <a:prstGeom prst="roundRect">
            <a:avLst>
              <a:gd name="adj" fmla="val 13333"/>
            </a:avLst>
          </a:prstGeom>
          <a:solidFill>
            <a:srgbClr val="00A8C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269480" y="1298448"/>
            <a:ext cx="153619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⑤ Affouille-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ment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269480" y="1847088"/>
            <a:ext cx="1536192" cy="2852928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C8DD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24344" y="1901952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8CC"/>
                </a:solidFill>
              </a:rPr>
              <a:t>ENTRÉE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324344" y="2066544"/>
            <a:ext cx="14264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q (m²/s)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H (dénivelée PHE-jet)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B3A"/>
                </a:solidFill>
              </a:rPr>
              <a:t>h* (dénivelée PHE-PHE aval)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360920" y="2715768"/>
            <a:ext cx="1353312" cy="0"/>
          </a:xfrm>
          <a:prstGeom prst="line">
            <a:avLst/>
          </a:prstGeom>
          <a:noFill/>
          <a:ln w="6350">
            <a:solidFill>
              <a:srgbClr val="C8DD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24344" y="277977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8CC"/>
                </a:solidFill>
              </a:rPr>
              <a:t>MÉTHODE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324344" y="2944368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Véronèse · Damle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Martins · Chian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1B2B3A"/>
                </a:solidFill>
              </a:rPr>
              <a:t>(4 formules empiriques)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324344" y="3630168"/>
            <a:ext cx="1426464" cy="749808"/>
          </a:xfrm>
          <a:prstGeom prst="roundRect">
            <a:avLst>
              <a:gd name="adj" fmla="val 6098"/>
            </a:avLst>
          </a:prstGeom>
          <a:solidFill>
            <a:srgbClr val="00A8CC"/>
          </a:solidFill>
          <a:ln/>
        </p:spPr>
      </p:sp>
      <p:sp>
        <p:nvSpPr>
          <p:cNvPr id="63" name="Text 61"/>
          <p:cNvSpPr/>
          <p:nvPr/>
        </p:nvSpPr>
        <p:spPr>
          <a:xfrm>
            <a:off x="7324344" y="3630168"/>
            <a:ext cx="1426464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 = 8,96 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Cote fond = 587,23 m NGM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4773168"/>
            <a:ext cx="8503920" cy="310896"/>
          </a:xfrm>
          <a:prstGeom prst="roundRect">
            <a:avLst>
              <a:gd name="adj" fmla="val 29412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11480" y="477316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Scénario dimensionnant : Q₁₀₀₀ = 794,93 m³/s  ·  D = 8,96 m  →  Cote fond fosse = 587,23 m NGM  ·  Fondations non menacées 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THÉORIE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Résultats du dimensionnement — 3 scénarios de crue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3246120"/>
        </p:xfrm>
        <a:graphic>
          <a:graphicData uri="http://schemas.openxmlformats.org/drawingml/2006/table">
            <a:tbl>
              <a:tblPr/>
              <a:tblGrid>
                <a:gridCol w="3200400"/>
                <a:gridCol w="1691640"/>
                <a:gridCol w="1691640"/>
                <a:gridCol w="1920240"/>
              </a:tblGrid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Paramètre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Q₁₀ = 161 m³/s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Q₁₀₀ = 508 m³/s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A500"/>
                          </a:solidFill>
                        </a:rPr>
                        <a:t>Q₁₀₀₀ = 795 m³/s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PHE (m NGM)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601,1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602,3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603,1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Charge sur seuil Hd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2,32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3,07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Hauteur d'eau au seuil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0,81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1,75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2,36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Hauteur d'eau coursier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2,00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Hauteur mur bajoyer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2,83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Vitesse cuillère V₀ (m/s)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17,89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16,81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17,91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Distance d'impact Lx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36,72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35,36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38,07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Profondeur affouillement 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3,65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6,78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8,96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663440"/>
            <a:ext cx="8503920" cy="420624"/>
          </a:xfrm>
          <a:prstGeom prst="roundRect">
            <a:avLst>
              <a:gd name="adj" fmla="val 21739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4663440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Scénario dimensionnant : Q₁₀₀₀   →   D = 8,96 m   →   Cote fond fosse = 587,23 m NGM   →   Fondations non menacées  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MODÉLISATION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Modélisation numérique avec OpenFOAM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194560" cy="402336"/>
          </a:xfrm>
          <a:prstGeom prst="roundRect">
            <a:avLst>
              <a:gd name="adj" fmla="val 2272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258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Solveur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3200400" cy="402336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3258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interFoam (VOF diphasique eau/air)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19656"/>
            <a:ext cx="2194560" cy="402336"/>
          </a:xfrm>
          <a:prstGeom prst="roundRect">
            <a:avLst>
              <a:gd name="adj" fmla="val 2272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8196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Géométrie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819656"/>
            <a:ext cx="32004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81965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Profil Creager + coursier + cuillère (STL)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13432"/>
            <a:ext cx="2194560" cy="402336"/>
          </a:xfrm>
          <a:prstGeom prst="roundRect">
            <a:avLst>
              <a:gd name="adj" fmla="val 2272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3134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Maillage grossier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2313432"/>
            <a:ext cx="3200400" cy="402336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231343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~150 000 cellules — domaine 70 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07208"/>
            <a:ext cx="2194560" cy="402336"/>
          </a:xfrm>
          <a:prstGeom prst="roundRect">
            <a:avLst>
              <a:gd name="adj" fmla="val 2272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8072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Maillage raffiné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2807208"/>
            <a:ext cx="32004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280720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~370 000 cellules — domaine 20 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300984"/>
            <a:ext cx="2194560" cy="402336"/>
          </a:xfrm>
          <a:prstGeom prst="roundRect">
            <a:avLst>
              <a:gd name="adj" fmla="val 2272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3009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Conditions aux limites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3300984"/>
            <a:ext cx="3200400" cy="402336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330098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Inlet : vitesse / Outlet : pression / Walls : no-slip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94760"/>
            <a:ext cx="2194560" cy="402336"/>
          </a:xfrm>
          <a:prstGeom prst="roundRect">
            <a:avLst>
              <a:gd name="adj" fmla="val 2272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379476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Turbulence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14600" y="3794760"/>
            <a:ext cx="32004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606040" y="379476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k-ε (RAS)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288536"/>
            <a:ext cx="2194560" cy="402336"/>
          </a:xfrm>
          <a:prstGeom prst="roundRect">
            <a:avLst>
              <a:gd name="adj" fmla="val 22727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" y="42885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</a:rPr>
              <a:t>Parallélisation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14600" y="4288536"/>
            <a:ext cx="3200400" cy="402336"/>
          </a:xfrm>
          <a:prstGeom prst="rect">
            <a:avLst/>
          </a:prstGeom>
          <a:solidFill>
            <a:srgbClr val="E4F3FB"/>
          </a:solidFill>
          <a:ln/>
        </p:spPr>
      </p:sp>
      <p:sp>
        <p:nvSpPr>
          <p:cNvPr id="33" name="Text 31"/>
          <p:cNvSpPr/>
          <p:nvPr/>
        </p:nvSpPr>
        <p:spPr>
          <a:xfrm>
            <a:off x="2606040" y="428853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</a:rPr>
              <a:t>8 processeurs (decomposePar)</a:t>
            </a:r>
            <a:endParaRPr lang="en-US" sz="1000" dirty="0"/>
          </a:p>
        </p:txBody>
      </p:sp>
      <p:pic>
        <p:nvPicPr>
          <p:cNvPr id="34" name="Image 0" descr="/workspace/figures/ch8_maillage_raffin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325880"/>
            <a:ext cx="2788920" cy="19202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035040" y="324612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A95"/>
                </a:solidFill>
              </a:rPr>
              <a:t>Maillage raffiné (20 m, ~370 000 cellules)</a:t>
            </a:r>
            <a:endParaRPr lang="en-US" sz="900" dirty="0"/>
          </a:p>
        </p:txBody>
      </p:sp>
      <p:pic>
        <p:nvPicPr>
          <p:cNvPr id="36" name="Image 1" descr="/workspace/figures/ch8_domaine_70m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3566160"/>
            <a:ext cx="2788920" cy="128016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035040" y="484632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A95"/>
                </a:solidFill>
              </a:rPr>
              <a:t>Domaine de calcul (70 m)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Champs de vitesse — Comparaison des trois débits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/workspace/figures/ch9_q10_U_profil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1399032"/>
            <a:ext cx="2505456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3730752"/>
            <a:ext cx="2651760" cy="4572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</a:rPr>
              <a:t>Q₁₀ = 161 m³/s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3959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V_max = 20,5 m/s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1" descr="/workspace/figures/ch9_q100_U_profil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19272" y="1399032"/>
            <a:ext cx="2505456" cy="23317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46120" y="3730752"/>
            <a:ext cx="2651760" cy="4572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4" name="Text 10"/>
          <p:cNvSpPr/>
          <p:nvPr/>
        </p:nvSpPr>
        <p:spPr>
          <a:xfrm>
            <a:off x="324612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</a:rPr>
              <a:t>Q₁₀₀ = 508 m³/s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46120" y="3959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V_max = 19,3 m/s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7220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2" descr="/workspace/figures/ch9_q1000_U_profil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45352" y="1399032"/>
            <a:ext cx="2505456" cy="23317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72200" y="3730752"/>
            <a:ext cx="2651760" cy="4572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9" name="Text 14"/>
          <p:cNvSpPr/>
          <p:nvPr/>
        </p:nvSpPr>
        <p:spPr>
          <a:xfrm>
            <a:off x="617220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</a:rPr>
              <a:t>Q₁₀₀₀ = 795 m³/s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72200" y="39593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V_max = 20,2 m/s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2B45"/>
                </a:solidFill>
              </a:rPr>
              <a:t>→  Accélération progressive de la retenue (≈ 0 m/s) jusqu'à la cuillère (≈ 20 m/s) pour les trois débits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Pression &amp; Formation du jet — Q₁₀₀₀ = 795 m³/s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pic>
        <p:nvPicPr>
          <p:cNvPr id="6" name="Image 0" descr="/workspace/figures/ch9_q1000_P_profil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25880"/>
            <a:ext cx="411480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70332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3703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Champ de pression (Pa) — Q₁₀₀₀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Surpression en pied de seuil · Dépression en cuillère → formation du jet</a:t>
            </a:r>
            <a:endParaRPr lang="en-US" sz="950" dirty="0"/>
          </a:p>
        </p:txBody>
      </p:sp>
      <p:pic>
        <p:nvPicPr>
          <p:cNvPr id="9" name="Image 1" descr="/workspace/figures/ch9_q1000_je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325880"/>
            <a:ext cx="4114800" cy="2377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09160" y="370332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00600" y="3703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Jet aérien à la sortie de la cuillère — Q₁₀₀₀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Trajectoire parabolique · Impact à Lx ≈ 36–38 m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RÉSULTATS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Évaluation de l'affouillement à l'aval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pic>
        <p:nvPicPr>
          <p:cNvPr id="6" name="Image 0" descr="/workspace/figures/fosse_q1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25880"/>
            <a:ext cx="411480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337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A95"/>
                </a:solidFill>
              </a:rPr>
              <a:t>Calcul pour Q₁₀₀₀ — 4 formules empiriques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6052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005840"/>
                <a:gridCol w="96012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Formule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Q₁₀ · 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Q₁₀₀ · 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Q₁₀₀₀ · 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Véronèse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5,64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10,20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13,48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Damle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4,33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5,74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Martins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3,28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6,46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8,59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3,51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6,13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8,01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Moyenne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3,65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6,78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</a:rPr>
                        <a:t>8,96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A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663440" y="3703320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754880" y="370332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</a:rPr>
              <a:t>Valeur retenue (Q₁₀₀₀) :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54880" y="39959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D = 8,96 m  →  Cote fond fosse = 587,23 m NGM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4617720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E4F3FB"/>
          </a:solidFill>
          <a:ln/>
        </p:spPr>
      </p:sp>
      <p:sp>
        <p:nvSpPr>
          <p:cNvPr id="13" name="Text 9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B45"/>
                </a:solidFill>
              </a:rPr>
              <a:t>PHE aval = 596,19 m NGM  ·  Cote fond fosse &gt; Cote fondations barrage  →  Pas de risque pour les fondations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COMPARAISON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45"/>
                </a:solidFill>
              </a:rPr>
              <a:t>Comparaison théorie / simulation numérique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9050">
            <a:solidFill>
              <a:srgbClr val="1A6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</a:rPr>
              <a:t>Hauteurs d'eau — Q₁₀₀₀ = 794,93 m³/s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0200"/>
          <a:ext cx="50292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Grandeur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Théorique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Simulé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Écart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Charge seuil Hd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2,54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7,6 %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Hauteur coursier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0,82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36,6 %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Hauteur cuillère (m)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0,61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65,6 %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1089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</a:rPr>
              <a:t>Vitesses maximales — 3 débits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2920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Débit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V_théo (m/s)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V_sim (m/s)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Écart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Q₁₀  (161 m³/s)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17,99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20,5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13,95 %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Q₁₀₀ (508 m³/s)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18,00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19,3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7,22 %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Q₁₀₀₀ (795 m³/s)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18,50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20,2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9,19 %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577840" y="132588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0E5A8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669280" y="13258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Hauteurs d'eau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669280" y="167335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Écart Hd &lt; 10 %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Coursier &amp; cuillère : mesure 3D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≠ section 1D → écart attendu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577840" y="256032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669280" y="25603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Vitesses maximales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669280" y="290779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Écarts 7–14 %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OpenFOAM surestime : V_sim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est la valeur maximale locale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vs V_théo moyenne de section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379476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065A7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669280" y="37947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669280" y="414223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Cohérence globale confirmée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Ecarts &lt; 14 % :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du modèle CFD acceptable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4572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704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Dimensionnement complet de l'évacuateur de crues : seuil Creager, coursier, cuillère saut de ski, murs bajoyers, trajectoire du jet et affouillement — pour Q₁₀, Q₁₀₀ et Q₁₀₀₀.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06654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Modèle CFD 3D complet sous OpenFOAM (interFoam/VOF) : deux niveaux de maillage, 3 débits simulés + 1 scénario exploratoire (Q = 1 051 m³/s).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80944"/>
            <a:ext cx="411480" cy="41148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980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5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9626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Validation numérique : écarts théorie/simulation inférieurs à 14 % pour les vitesses et 10 % pour la charge sur le seuil — cohérence confirmée.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4224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Perspectives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617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→  Validation expérimentale sur modèle physique réduit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76402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→  Simulation de scénarios de surélévation du barrage (Q = 1 051 m³/s étudié)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0"/>
                </a:solidFill>
              </a:rPr>
              <a:t>→  Optimisation du profil de la cuillère pour réduire l'affouillement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920240"/>
            <a:ext cx="54864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3127248"/>
            <a:ext cx="548640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Merci pour votre attention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CC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ADC8"/>
                </a:solidFill>
              </a:rPr>
              <a:t>Modélisation numérique 3D de l'évacuateur de crues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BADC8"/>
                </a:solidFill>
              </a:rPr>
              <a:t>du barrage Ahl Souss par OpenFOAM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95"/>
                </a:solidFill>
              </a:rPr>
              <a:t>Hiba Asmae BASTOUT  ·  ENSA Agadir  ·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PFE - Simulation OpenFOAM Barrage Ahl Souss</dc:title>
  <dc:subject>PptxGenJS Presentation</dc:subject>
  <dc:creator>PptxGenJS</dc:creator>
  <cp:lastModifiedBy>PptxGenJS</cp:lastModifiedBy>
  <cp:revision>1</cp:revision>
  <dcterms:created xsi:type="dcterms:W3CDTF">2026-06-21T18:21:04Z</dcterms:created>
  <dcterms:modified xsi:type="dcterms:W3CDTF">2026-06-21T18:21:04Z</dcterms:modified>
</cp:coreProperties>
</file>